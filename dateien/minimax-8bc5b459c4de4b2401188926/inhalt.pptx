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uenchen.blogspot.com/2026/10/sommerlicher-warmeschutz-im-holzbau.html" TargetMode="External"/><Relationship Id="rId3" Type="http://schemas.openxmlformats.org/officeDocument/2006/relationships/hyperlink" Target="https://holzundhaus.github.io/1aholzbaumuenchen/dateien/minimax-8bc5b459c4de4b240118892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Sommerlicher Wärmeschutz im Holzbau: vier Stellgrößen, die früh festgelegt werden · Erklärende Präsentation</a:t>
            </a:r>
          </a:p>
        </p:txBody>
      </p:sp>
      <p:sp>
        <p:nvSpPr>
          <p:cNvPr id="3" name="Content Placeholder 2"/>
          <p:cNvSpPr>
            <a:spLocks noGrp="1"/>
          </p:cNvSpPr>
          <p:nvPr>
            <p:ph idx="1"/>
          </p:nvPr>
        </p:nvSpPr>
        <p:spPr/>
        <p:txBody>
          <a:bodyPr/>
          <a:lstStyle/>
          <a:p>
            <a:r>
              <a:t>Überblick: Ein Dachausbau kann auch an heißen Sommertagen angenehm bleiben, wenn Wärmeschutz nicht erst nach der Planung entsteht. Entscheidend ist das Zusammenspiel aus Speichermasse, Lüftungsführung, Sonnenschutz und bauphysikalisch abgestimmtem Dachaufbau. Der folgende Leitfaden zeigt, welche Fragen vor der Ausführung geklärt werden sollten und worauf bei der späteren Nutzung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spielt die Speichermasse?</a:t>
            </a:r>
          </a:p>
        </p:txBody>
      </p:sp>
      <p:sp>
        <p:nvSpPr>
          <p:cNvPr id="3" name="Content Placeholder 2"/>
          <p:cNvSpPr>
            <a:spLocks noGrp="1"/>
          </p:cNvSpPr>
          <p:nvPr>
            <p:ph idx="1"/>
          </p:nvPr>
        </p:nvSpPr>
        <p:spPr/>
        <p:txBody>
          <a:bodyPr/>
          <a:lstStyle/>
          <a:p>
            <a:pPr>
              <a:defRPr sz="1800"/>
            </a:pPr>
            <a:r>
              <a:t>Leichte Holzkonstruktionen montieren schnell und verfügen über gute Dämmwerte, können Wärme jedoch weniger lange zurückhalten als schwere Bauteile. Deshalb lohnt sich der gezielte Einsatz von Speichermasse, zum Beispiel durch Brettsperrholzdecken oder Wandaufbauten mit Lehm- oder Gipsputz. Wichtig ist, dass diese Schichten tatsächlich Wärme aufnehmen und später wieder abgeben können. Eine Folie zwischen Raum und Putz- oder Bodenebene unterbricht diesen Vorgang. Auch die Auswahl des Bodenaufbaus gehört dazu: Ein trockener Aufbau kann im Holzbau sinnvoller sein als ein nasser Estrich. Entscheidend ist nicht möglichst viel Material, sondern eine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spielt die Speichermasse?</a:t>
            </a:r>
          </a:p>
        </p:txBody>
      </p:sp>
      <p:sp>
        <p:nvSpPr>
          <p:cNvPr id="3" name="Content Placeholder 2"/>
          <p:cNvSpPr>
            <a:spLocks noGrp="1"/>
          </p:cNvSpPr>
          <p:nvPr>
            <p:ph idx="1"/>
          </p:nvPr>
        </p:nvSpPr>
        <p:spPr/>
        <p:txBody>
          <a:bodyPr/>
          <a:lstStyle/>
          <a:p>
            <a:pPr>
              <a:defRPr sz="1800"/>
            </a:pPr>
            <a:r>
              <a:t> wirksame Verbindung mit der Raumluft.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nächtliche Lüftung möglichst wirksam?</a:t>
            </a:r>
          </a:p>
        </p:txBody>
      </p:sp>
      <p:sp>
        <p:nvSpPr>
          <p:cNvPr id="3" name="Content Placeholder 2"/>
          <p:cNvSpPr>
            <a:spLocks noGrp="1"/>
          </p:cNvSpPr>
          <p:nvPr>
            <p:ph idx="1"/>
          </p:nvPr>
        </p:nvSpPr>
        <p:spPr/>
        <p:txBody>
          <a:bodyPr/>
          <a:lstStyle/>
          <a:p>
            <a:pPr>
              <a:defRPr sz="1800"/>
            </a:pPr>
            <a:r>
              <a:t>Kühle Nachtluft kann die am Tag aufgenommene Wärme abführen. Dazu reicht nicht jedes einzelne Fenster. Eine Querlüftung mit tiefen und hoch liegenden Öffnungen erzeugt einen Luftstrom, der warme Luft nach oben abführt. Bei kompakten Grundrissen kann ein zusätzliches Lüftungselement im Sparrenfeld sinnvoll sein. Die geplante Raumaufteilung sollte diese Wege berücksichtigen. Einbauschränke unter der Dachschräge, bodenlange Vorhänge oder andere Hindernisse können die Zirkulation blockieren. Zusätzlich ist die Funktion der Gitter zu prüfen: Verschmutzte oder verstopfte Insektenschutzgitter können die Luftströmung deutlich einschränken. Lüftung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nächtliche Lüftung möglichst wirksam?</a:t>
            </a:r>
          </a:p>
        </p:txBody>
      </p:sp>
      <p:sp>
        <p:nvSpPr>
          <p:cNvPr id="3" name="Content Placeholder 2"/>
          <p:cNvSpPr>
            <a:spLocks noGrp="1"/>
          </p:cNvSpPr>
          <p:nvPr>
            <p:ph idx="1"/>
          </p:nvPr>
        </p:nvSpPr>
        <p:spPr/>
        <p:txBody>
          <a:bodyPr/>
          <a:lstStyle/>
          <a:p>
            <a:pPr>
              <a:defRPr sz="1800"/>
            </a:pPr>
            <a:r>
              <a:t>t deshalb als Bestandteil der Gebäudekonzeption zu planen und nicht erst als einzelnes Zubehör zu verstehen.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Welcher Sonnenschutz passt zu Dachfenstern?</a:t>
            </a:r>
          </a:p>
        </p:txBody>
      </p:sp>
      <p:sp>
        <p:nvSpPr>
          <p:cNvPr id="3" name="Content Placeholder 2"/>
          <p:cNvSpPr>
            <a:spLocks noGrp="1"/>
          </p:cNvSpPr>
          <p:nvPr>
            <p:ph idx="1"/>
          </p:nvPr>
        </p:nvSpPr>
        <p:spPr/>
        <p:txBody>
          <a:bodyPr/>
          <a:lstStyle/>
          <a:p>
            <a:pPr>
              <a:defRPr sz="1800"/>
            </a:pPr>
            <a:r>
              <a:t>Der Sonnenschutz gehört in die Planung der Gebäudehülle. Außenliegende Rollläden, Raffstoren oder feste Holzlamellen halten Sonnenstrahlung vor dem Glas ab und sind grundsätzlich wirksamer als innenliegende Plissees. Bei Aufstockungen und Dachgauben können Vordächer die darunterliegenden Fenster in den heißen Mittagsstunden verschatten. Bei großen Dachflächen kann eine Sonnenschutzverglasung Tageslicht durchlassen und Wärmestrahlung reduzieren. Die praktische Bedienbarkeit ist ebenso wichtig: Ein System, das nur mit großem Kraftaufwand geöffnet wird, wird im Alltag häufig nicht genutzt. Motorisierte Lösungen können bei hoch sitzenden Dachfens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Welcher Sonnenschutz passt zu Dachfenstern?</a:t>
            </a:r>
          </a:p>
        </p:txBody>
      </p:sp>
      <p:sp>
        <p:nvSpPr>
          <p:cNvPr id="3" name="Content Placeholder 2"/>
          <p:cNvSpPr>
            <a:spLocks noGrp="1"/>
          </p:cNvSpPr>
          <p:nvPr>
            <p:ph idx="1"/>
          </p:nvPr>
        </p:nvSpPr>
        <p:spPr/>
        <p:txBody>
          <a:bodyPr/>
          <a:lstStyle/>
          <a:p>
            <a:pPr>
              <a:defRPr sz="1800"/>
            </a:pPr>
            <a:r>
              <a:t>tern sinnvoll sein, sollten aber gemeinsam mit der Fensteranordnung und der Nutzung geplant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Entscheidungen muss der Dachaufbau vorab festlegen?</a:t>
            </a:r>
          </a:p>
        </p:txBody>
      </p:sp>
      <p:sp>
        <p:nvSpPr>
          <p:cNvPr id="3" name="Content Placeholder 2"/>
          <p:cNvSpPr>
            <a:spLocks noGrp="1"/>
          </p:cNvSpPr>
          <p:nvPr>
            <p:ph idx="1"/>
          </p:nvPr>
        </p:nvSpPr>
        <p:spPr/>
        <p:txBody>
          <a:bodyPr/>
          <a:lstStyle/>
          <a:p>
            <a:pPr>
              <a:defRPr sz="1800"/>
            </a:pPr>
            <a:r>
              <a:t>Der Aufbau des Daches wird während der Ausführung einmal festgelegt. Entscheidend sind die Schichtenfolge, die Luftdichtheit und eine funktionierende Hinterlüftung. Eine durchgehende Luftdichtheit begrenzt nicht nur Energieverluste, sondern schützt auch die Dämmung vor Feuchtigkeit. Unterbrechungen der Dampfbremse, etwa durch Steckdosen in der Dachschräge, können problematisch werden. Oberhalb der Dämmung sollte eine belüftete Ebene eingerechnet sein, damit eingedrungene Wärme abgeführt werden kann. Dazu müssen Zu- und Abluftöffnungen tatsächlich offen bleiben. Dachgauben verändern neben der Stehhöhe auch Belichtung und Verschattung. Ihre For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Entscheidungen muss der Dachaufbau vorab festlegen?</a:t>
            </a:r>
          </a:p>
        </p:txBody>
      </p:sp>
      <p:sp>
        <p:nvSpPr>
          <p:cNvPr id="3" name="Content Placeholder 2"/>
          <p:cNvSpPr>
            <a:spLocks noGrp="1"/>
          </p:cNvSpPr>
          <p:nvPr>
            <p:ph idx="1"/>
          </p:nvPr>
        </p:nvSpPr>
        <p:spPr/>
        <p:txBody>
          <a:bodyPr/>
          <a:lstStyle/>
          <a:p>
            <a:pPr>
              <a:defRPr sz="1800"/>
            </a:pPr>
            <a:r>
              <a:t>m sollte daher zur Dachneigung und Traufhöhe passen, damit Wärmebrücken vermieden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gehören in die Projektvorbereitung?</a:t>
            </a:r>
          </a:p>
        </p:txBody>
      </p:sp>
      <p:sp>
        <p:nvSpPr>
          <p:cNvPr id="3" name="Content Placeholder 2"/>
          <p:cNvSpPr>
            <a:spLocks noGrp="1"/>
          </p:cNvSpPr>
          <p:nvPr>
            <p:ph idx="1"/>
          </p:nvPr>
        </p:nvSpPr>
        <p:spPr/>
        <p:txBody>
          <a:bodyPr/>
          <a:lstStyle/>
          <a:p>
            <a:pPr>
              <a:defRPr sz="1800"/>
            </a:pPr>
            <a:r>
              <a:t>Vor der Ausführung sollten Nutzung, Fenster, Verschattung, Lüftungswege und Dachaufbau gemeinsam betrachtet werden. Ein Schlafraum und ein Arbeitsplatz haben unterschiedliche Anforderungen an Temperatur und Tageslicht. Für die weitere Orientierung bietet sich der Bereich Hinweise zur Planung eines Dachausbaus an. Spätere Änderungen an der Hülle sind aufwendig; deshalb sollten Sonnenschutz und Luftdichtheit nicht auf den Einzug verschoben werden. Auch die Einrichtung gehört zur Planung: Möbel, die Lüftungswege versperren, schwächen die vorgesehene Strategie. So entsteht ein belastbarer Rahmen, in dem Speichermasse, Lüftung, Sonnenschutz und 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gehören in die Projektvorbereitung?</a:t>
            </a:r>
          </a:p>
        </p:txBody>
      </p:sp>
      <p:sp>
        <p:nvSpPr>
          <p:cNvPr id="3" name="Content Placeholder 2"/>
          <p:cNvSpPr>
            <a:spLocks noGrp="1"/>
          </p:cNvSpPr>
          <p:nvPr>
            <p:ph idx="1"/>
          </p:nvPr>
        </p:nvSpPr>
        <p:spPr/>
        <p:txBody>
          <a:bodyPr/>
          <a:lstStyle/>
          <a:p>
            <a:pPr>
              <a:defRPr sz="1800"/>
            </a:pPr>
            <a:r>
              <a:t>chaufbau nicht einzeln, sondern als wirksames Gesamtsystem funktionieren.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Sommerlicher Wärmeschutz im Holzbau: vier Stellgrößen, die früh festgelegt werden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