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uenchen/-/blob/e07a44d7d9bea98ed0482bba6ecf260eb4d8b641/_posts/2026-10-30-bewaesserung-holzterrasse-wassermanagement.md" TargetMode="External"/><Relationship Id="rId3" Type="http://schemas.openxmlformats.org/officeDocument/2006/relationships/hyperlink" Target="https://holzundhaus.github.io/1aholzbaumuenchen/dateien/minimax-888af09c35c15ab46ffd865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Bewässerung und Holzterrasse: So bleibt der Unterbau dauerhaft trocken · Erklärende Präsentation</a:t>
            </a:r>
          </a:p>
        </p:txBody>
      </p:sp>
      <p:sp>
        <p:nvSpPr>
          <p:cNvPr id="3" name="Content Placeholder 2"/>
          <p:cNvSpPr>
            <a:spLocks noGrp="1"/>
          </p:cNvSpPr>
          <p:nvPr>
            <p:ph idx="1"/>
          </p:nvPr>
        </p:nvSpPr>
        <p:spPr/>
        <p:txBody>
          <a:bodyPr/>
          <a:lstStyle/>
          <a:p>
            <a:r>
              <a:t>Überblick: Eine Holzterrasse hält Feuchtigkeit nur dann zuverlässig stand, wenn Wasser weder über den Gartenbereich noch über den Unterbau dorthin gelangt. Entscheidend ist deshalb bereits die Planung: Wo läuft Wasser hin, welche Bewässerung darf die Terrasse besprühen und wie wird Regenwasser vom Untergrund fortgeleitet? Der folgende Leitfaden verbindet Wasserwege, Terrassenrand und Unterkonstruktion zu einem überschaubaren Prüfplan. Die genannten Abstände und Gefälle sind aus dem Quellbeitrag übernommene Orientierungswerte; Untergrund, Aufbau und örtliche Gegebenheiten können eine Anpassung erforderlich machen.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Wasserwege rund um die Terrasse zuerst erfassen</a:t>
            </a:r>
          </a:p>
        </p:txBody>
      </p:sp>
      <p:sp>
        <p:nvSpPr>
          <p:cNvPr id="3" name="Content Placeholder 2"/>
          <p:cNvSpPr>
            <a:spLocks noGrp="1"/>
          </p:cNvSpPr>
          <p:nvPr>
            <p:ph idx="1"/>
          </p:nvPr>
        </p:nvSpPr>
        <p:spPr/>
        <p:txBody>
          <a:bodyPr/>
          <a:lstStyle/>
          <a:p>
            <a:pPr>
              <a:defRPr sz="1800"/>
            </a:pPr>
            <a:r>
              <a:t>Beginnen Sie mit einer einfachen Begehung bei Regen oder nach dem Bewässern. Achten Sie darauf, ob Wasser von Rasen, Pflanzbeeten oder der Hauswand zur Terrasse läuft, ob Sprüher den Belag treffen und ob sich Feuchtigkeit an Auflagern oder Untersichten sammelt. Kritisch sind vor allem Randbereiche, an denen Oberflächenwasser seitlich unter die Konstruktion gelangt. Die Prüfung sollte auch Regentonnen, Ablaufstellen, Schläuche und vorhandene Entwässerung berücksichtigen. Ein funktionierender Wasserweg ist die Grundlage für die weitere Planung: Feuchte, die dauerhaft im Unterbau bleibt, belastet das Holz und kann die standsichere Funktion beein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Wasserwege rund um die Terrasse zuerst erfassen</a:t>
            </a:r>
          </a:p>
        </p:txBody>
      </p:sp>
      <p:sp>
        <p:nvSpPr>
          <p:cNvPr id="3" name="Content Placeholder 2"/>
          <p:cNvSpPr>
            <a:spLocks noGrp="1"/>
          </p:cNvSpPr>
          <p:nvPr>
            <p:ph idx="1"/>
          </p:nvPr>
        </p:nvSpPr>
        <p:spPr/>
        <p:txBody>
          <a:bodyPr/>
          <a:lstStyle/>
          <a:p>
            <a:pPr>
              <a:defRPr sz="1800"/>
            </a:pPr>
            <a:r>
              <a:t>trächtigen. Deshalb werden Entwässerung und Bewässerung nicht erst nach dem Terrassenbau, sondern parallel zum Layout festgelegt.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 begrenzen und den Terrassenrand schützen</a:t>
            </a:r>
          </a:p>
        </p:txBody>
      </p:sp>
      <p:sp>
        <p:nvSpPr>
          <p:cNvPr id="3" name="Content Placeholder 2"/>
          <p:cNvSpPr>
            <a:spLocks noGrp="1"/>
          </p:cNvSpPr>
          <p:nvPr>
            <p:ph idx="1"/>
          </p:nvPr>
        </p:nvSpPr>
        <p:spPr/>
        <p:txBody>
          <a:bodyPr/>
          <a:lstStyle/>
          <a:p>
            <a:pPr>
              <a:defRPr sz="1800"/>
            </a:pPr>
            <a:r>
              <a:t>Rasensprenger sollten nach Möglichkeit mindestens 30 bis 50 Zentimeter vor der Terrassenkante enden. So wird der Holzboden nicht direkt beansprucht und Wasser sickert nicht durch Fugen in die Unterkonstruktion. Eine zwischen Bewässerung und Terrasse liegende Zone aus Splitt, Kies oder Pflastersteinen kann Restwasser aufnehmen. Zusätzlich kann eine Rasenkante oder ein niedriger steinerner Bordstein das Wasser nach außen lenken. Für Pflanzbeete direkt an der Terrasse ist ein Tropfschlauch geeigneter, weil er Wasser gezielt an die Pflanzen abgibt, statt den Belag zu besprühen. Entscheidend ist eine anschließende Kontrolle: Führen Sprühstrahlen,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 begrenzen und den Terrassenrand schützen</a:t>
            </a:r>
          </a:p>
        </p:txBody>
      </p:sp>
      <p:sp>
        <p:nvSpPr>
          <p:cNvPr id="3" name="Content Placeholder 2"/>
          <p:cNvSpPr>
            <a:spLocks noGrp="1"/>
          </p:cNvSpPr>
          <p:nvPr>
            <p:ph idx="1"/>
          </p:nvPr>
        </p:nvSpPr>
        <p:spPr/>
        <p:txBody>
          <a:bodyPr/>
          <a:lstStyle/>
          <a:p>
            <a:pPr>
              <a:defRPr sz="1800"/>
            </a:pPr>
            <a:r>
              <a:t>Hangkanten oder überlaufendes Wasser dennoch zur Terrasse, muss die Wasserführung angepasst werden. Der weiterführende Ratgeber Bewässerung und Holzterrasse zeigt, wie sich diese Maßnahmen mit der Unterkonstruktion abstimmen lassen.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Regentonnen mit Abstand und ableitbarem Untergrund aufstellen</a:t>
            </a:r>
          </a:p>
        </p:txBody>
      </p:sp>
      <p:sp>
        <p:nvSpPr>
          <p:cNvPr id="3" name="Content Placeholder 2"/>
          <p:cNvSpPr>
            <a:spLocks noGrp="1"/>
          </p:cNvSpPr>
          <p:nvPr>
            <p:ph idx="1"/>
          </p:nvPr>
        </p:nvSpPr>
        <p:spPr/>
        <p:txBody>
          <a:bodyPr/>
          <a:lstStyle/>
          <a:p>
            <a:pPr>
              <a:defRPr sz="1800"/>
            </a:pPr>
            <a:r>
              <a:t>Eine Regentonne direkt an der Terrassenkante kann bei Überlaufung Wasser an den Auflagern bündeln. Der Quellbeitrag empfiehlt deshalb einen Mindestabstand von 80 Zentimetern zur Terrassenkante. Auf unbefestigtem Boden sollte außerdem eine drainagefähige Schicht aus Kies oder Schotter den Standort unterstützen, damit Wasser versickern kann, statt sich zu stauen. Wichtig ist außerdem die Lage des Überlaufanschlusses: Austretendes Wasser sollte vom Terrassenuntergrund weggeführt werden, beispielsweise in eine Sickermulde oder einen Gully. Prüfen Sie auch, ob ein Schlauch beim Aufstellen über den Terrassenrand gezogen werden muss. Das erhöht nich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Regentonnen mit Abstand und ableitbarem Untergrund aufstellen</a:t>
            </a:r>
          </a:p>
        </p:txBody>
      </p:sp>
      <p:sp>
        <p:nvSpPr>
          <p:cNvPr id="3" name="Content Placeholder 2"/>
          <p:cNvSpPr>
            <a:spLocks noGrp="1"/>
          </p:cNvSpPr>
          <p:nvPr>
            <p:ph idx="1"/>
          </p:nvPr>
        </p:nvSpPr>
        <p:spPr/>
        <p:txBody>
          <a:bodyPr/>
          <a:lstStyle/>
          <a:p>
            <a:pPr>
              <a:defRPr sz="1800"/>
            </a:pPr>
            <a:r>
              <a:t>t nur die Stolpergefahr, sondern kann am Belag außerdem Scheuerstellen verursachen. Der Ratgeber zum Wassermanagement bei Holzterrassen erläutert diese Abstände im Zusammenhang mit der Planung.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Gefälle und Abstand zum Erdreich kontrollieren</a:t>
            </a:r>
          </a:p>
        </p:txBody>
      </p:sp>
      <p:sp>
        <p:nvSpPr>
          <p:cNvPr id="3" name="Content Placeholder 2"/>
          <p:cNvSpPr>
            <a:spLocks noGrp="1"/>
          </p:cNvSpPr>
          <p:nvPr>
            <p:ph idx="1"/>
          </p:nvPr>
        </p:nvSpPr>
        <p:spPr/>
        <p:txBody>
          <a:bodyPr/>
          <a:lstStyle/>
          <a:p>
            <a:pPr>
              <a:defRPr sz="1800"/>
            </a:pPr>
            <a:r>
              <a:t>Der Untergrund muss Wasser aufnehmen und kontrolliert ableiten können. Das Gelände sollte von der Hauswand wegführen, damit Niederschlagswasser nicht zur Terrasse hinfließt. Als Orientierung nennt der Quelltext ein Gefälle von mindestens zwei Prozent. Bei erdnahen Aufbauten kann eine Sauberkeitsschicht aus Kies oder Schotter das Holz vom feuchten Boden trennen und zugleich die Entwässerung unterstützen. Zwischen Auflager und Erdreich sind zudem Abstandhalter oder Kunststofffüße vorgesehen, um direkten Holz-Bodenkontakt zu vermeiden. Diese Details gehören nicht erst in die Ausführungsphase: Wenn das Gelände, die Auflagerhöhe oder die Wasserabl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Gefälle und Abstand zum Erdreich kontrollieren</a:t>
            </a:r>
          </a:p>
        </p:txBody>
      </p:sp>
      <p:sp>
        <p:nvSpPr>
          <p:cNvPr id="3" name="Content Placeholder 2"/>
          <p:cNvSpPr>
            <a:spLocks noGrp="1"/>
          </p:cNvSpPr>
          <p:nvPr>
            <p:ph idx="1"/>
          </p:nvPr>
        </p:nvSpPr>
        <p:spPr/>
        <p:txBody>
          <a:bodyPr/>
          <a:lstStyle/>
          <a:p>
            <a:pPr>
              <a:defRPr sz="1800"/>
            </a:pPr>
            <a:r>
              <a:t>eitung später verändert werden, kann Feuchtigkeit trotz sorgfältiger Belagsplanung im Unterbau stehen bleiben.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Bewässerungsleitungen vor dem Bau festlegen</a:t>
            </a:r>
          </a:p>
        </p:txBody>
      </p:sp>
      <p:sp>
        <p:nvSpPr>
          <p:cNvPr id="3" name="Content Placeholder 2"/>
          <p:cNvSpPr>
            <a:spLocks noGrp="1"/>
          </p:cNvSpPr>
          <p:nvPr>
            <p:ph idx="1"/>
          </p:nvPr>
        </p:nvSpPr>
        <p:spPr/>
        <p:txBody>
          <a:bodyPr/>
          <a:lstStyle/>
          <a:p>
            <a:pPr>
              <a:defRPr sz="1800"/>
            </a:pPr>
            <a:r>
              <a:t>Bei einer automatischen Bewässerungsanlage sollte die Leitungsführung vor dem Terrassenbau feststehen. Ein nachträgliches Aufgraben unter dem Belag ist aufwendig und birgt das Risiko, Versorgungsleitungen oder Aufbauten zu beschädigen. Hauptleitungen sollten nach den Angaben des Quellbeitrags mindestens 40 Zentimeter tief verlegt werden, damit Frostschäden vermieden werden. Steigleitungen zu Regnern und Tropfstellen sollten nicht unter der Unterkonstruktion verlaufen. Dadurch lässt sich ein unbemerktes Leck besser erkennen, bevor Wasser sich unmittelbar am Holz sammelt. Auch die Zuleitung zur Regentonne gehört in diese Grundplanung. So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Bewässerungsleitungen vor dem Bau festlegen</a:t>
            </a:r>
          </a:p>
        </p:txBody>
      </p:sp>
      <p:sp>
        <p:nvSpPr>
          <p:cNvPr id="3" name="Content Placeholder 2"/>
          <p:cNvSpPr>
            <a:spLocks noGrp="1"/>
          </p:cNvSpPr>
          <p:nvPr>
            <p:ph idx="1"/>
          </p:nvPr>
        </p:nvSpPr>
        <p:spPr/>
        <p:txBody>
          <a:bodyPr/>
          <a:lstStyle/>
          <a:p>
            <a:pPr>
              <a:defRPr sz="1800"/>
            </a:pPr>
            <a:r>
              <a:t> Wassermanagement, Unterbau und Nutzung der Terrasse als ein zusammenhängendes System betrachtet, auch wenn einzelne Maßnahmen in Eigenleistung umgesetzt werden können.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Bewässerung und Holzterrasse: So bleibt der Unterbau dauerhaft trocken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