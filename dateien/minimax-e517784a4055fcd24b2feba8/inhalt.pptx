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muenchen/-/blob/c96dc9ba909524cd19335fa24944027268889eaa/_posts/2026-10-19-holzherkunft-zertifikate-c02-bilanz-bauherr.md" TargetMode="External"/><Relationship Id="rId3" Type="http://schemas.openxmlformats.org/officeDocument/2006/relationships/hyperlink" Target="https://holzundhaus.github.io/1aholzbaumuenchen/dateien/minimax-e517784a4055fcd24b2feba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Holzherkunft und CO2-Bilanz: Worauf Bauherren bei Zertifikaten achten sollten · Erklärende Präsentation</a:t>
            </a:r>
          </a:p>
        </p:txBody>
      </p:sp>
      <p:sp>
        <p:nvSpPr>
          <p:cNvPr id="3" name="Content Placeholder 2"/>
          <p:cNvSpPr>
            <a:spLocks noGrp="1"/>
          </p:cNvSpPr>
          <p:nvPr>
            <p:ph idx="1"/>
          </p:nvPr>
        </p:nvSpPr>
        <p:spPr/>
        <p:txBody>
          <a:bodyPr/>
          <a:lstStyle/>
          <a:p>
            <a:r>
              <a:t>Überblick: Eine Holzfassade wertet jedes Gebäude auf und bringt natürliche Wärme in die Architektur. Doch bevor die ersten Bretter montiert werden, stellen sich viele Bauherren und Immobilienbesitzer grundlegende Fragen: Wann lohnt sich eine neue Holzfassade wirklich, welches Profil eignet sich für die geplante Nutzung, und wie entwickeln sich die Kosten über die Lebensdauer? Dieser Ratgeber beleuchtet die wesentlichen Entscheidungskriterien, damit die Wahl der Fassade zum konkreten Bauprojekt passt.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richtige Zeitpunkt für eine Holzfassade</a:t>
            </a:r>
          </a:p>
        </p:txBody>
      </p:sp>
      <p:sp>
        <p:nvSpPr>
          <p:cNvPr id="3" name="Content Placeholder 2"/>
          <p:cNvSpPr>
            <a:spLocks noGrp="1"/>
          </p:cNvSpPr>
          <p:nvPr>
            <p:ph idx="1"/>
          </p:nvPr>
        </p:nvSpPr>
        <p:spPr/>
        <p:txBody>
          <a:bodyPr/>
          <a:lstStyle/>
          <a:p>
            <a:pPr>
              <a:defRPr sz="1800"/>
            </a:pPr>
            <a:r>
              <a:t>Eine Holzfassade empfiehlt sich in mehreren Situationen: bei einem Neubau, der bewusst auf natürliche Materialien setzt, bei einer energetischen Sanierung, bei der die Fassade ohnehin erneuert wird, oder wenn ein bestehendes Gebäude optisch aufgewertet werden soll. Auch nach Sturmschäden oder starker Verwitterung kann ein kompletter Fassadenwechsel sinnvoller sein als eine punktuelle Reparatur. Entscheidend ist, den Zustand der vorhandenen Konstruktion prüfen zu lassen. Eine Erneuerung bietet gleichzeitig die Gelegenheit, eine zusätzliche Dämmung hinter der Fassade anzubringen und so die Energiebilanz des Gebäudes zu verbessern.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Profilwahl je nach Einsatzbereich</a:t>
            </a:r>
          </a:p>
        </p:txBody>
      </p:sp>
      <p:sp>
        <p:nvSpPr>
          <p:cNvPr id="3" name="Content Placeholder 2"/>
          <p:cNvSpPr>
            <a:spLocks noGrp="1"/>
          </p:cNvSpPr>
          <p:nvPr>
            <p:ph idx="1"/>
          </p:nvPr>
        </p:nvSpPr>
        <p:spPr/>
        <p:txBody>
          <a:bodyPr/>
          <a:lstStyle/>
          <a:p>
            <a:pPr>
              <a:defRPr sz="1800"/>
            </a:pPr>
            <a:r>
              <a:t>Die Wahl des Fassadenprofils beeinflusst sowohl die Optik als auch die Widerstandsfähigkeit. Offene Profile mit Zwischenräumen ermöglichen eine Hinterlüftung und eignen sich gut für größere Flächen. Geschlossene Profile wie Stülp- oder Nut- und Federsysteme bieten eine glattere Oberfläche und besseren Schutz vor Schlagregen. Rhombusprofile werden häufig bei modernen Entwürfen eingesetzt, während klassische Langbrett-Schalungen einen zeitlosen Look erzeugen. Die Wahl hängt auch davon ab, ob die Fassade später gestrichen oder naturbelassen verbaut werden soll.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Holzarten und ihre Eigenschaften</a:t>
            </a:r>
          </a:p>
        </p:txBody>
      </p:sp>
      <p:sp>
        <p:nvSpPr>
          <p:cNvPr id="3" name="Content Placeholder 2"/>
          <p:cNvSpPr>
            <a:spLocks noGrp="1"/>
          </p:cNvSpPr>
          <p:nvPr>
            <p:ph idx="1"/>
          </p:nvPr>
        </p:nvSpPr>
        <p:spPr/>
        <p:txBody>
          <a:bodyPr/>
          <a:lstStyle/>
          <a:p>
            <a:pPr>
              <a:defRPr sz="1800"/>
            </a:pPr>
            <a:r>
              <a:t>Für Fassaden werden überwiegend Nadelhölzer wie Fichte, Tanne, Douglasie und Lärche verwendet. Fichte und Tanne sind kostengünstiger, erfordern aber regelmäßigen Schutzanstrich. Lärche besitzt von Natur aus eine höhere Widerstandsfähigkeit gegen Pilz- und Insektenbefall und kommt oft ohne chemische Behandlung aus. Douglasie liegt in der Dauerhaftigkeit zwischen Fichte und Lärche. Für stark bewitterte Bereiche wie den Sockelbereich empfiehlt sich kesseldruckimprägniertes Holz oder eine robuste Holzart mit höherer Rohdichte. Die Holzfeuchte beim Einbau sollte dem späteren Einsatzort angepasst sein, um Verformungen zu minimieren.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und Lebensdauer</a:t>
            </a:r>
          </a:p>
        </p:txBody>
      </p:sp>
      <p:sp>
        <p:nvSpPr>
          <p:cNvPr id="3" name="Content Placeholder 2"/>
          <p:cNvSpPr>
            <a:spLocks noGrp="1"/>
          </p:cNvSpPr>
          <p:nvPr>
            <p:ph idx="1"/>
          </p:nvPr>
        </p:nvSpPr>
        <p:spPr/>
        <p:txBody>
          <a:bodyPr/>
          <a:lstStyle/>
          <a:p>
            <a:pPr>
              <a:defRPr sz="1800"/>
            </a:pPr>
            <a:r>
              <a:t>Eine unbehandelte Holzfassade aus widerstandsfähigen Hölzern kann bei günstigen Bedingungen zwanzig Jahre und länger funktionsfähig bleiben, entwickelt aber eine silbergraue Patina. Wer die ursprüngliche Optik erhalten möchte, sollte alle drei bis fünf Jahre einen Anstrich mit lasierenden oder deckenden Holzanstrichmitteln einplanen. Die Reinigung beschränkt sich bei intakter Oberfläche auf gelegentliches Abbürsten und eine sanfte Feuchtreinigung. Pilzbefall, Risse oder Verfärbungen sollten frühzeitig behandelt werden, um größere Reparaturen zu vermeiden. Regelmäßige Kontrolle der Befestigungspunkte und Anschlüsse an Fenstern und Dach gehört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Pflegeaufwand und Lebensdauer</a:t>
            </a:r>
          </a:p>
        </p:txBody>
      </p:sp>
      <p:sp>
        <p:nvSpPr>
          <p:cNvPr id="3" name="Content Placeholder 2"/>
          <p:cNvSpPr>
            <a:spLocks noGrp="1"/>
          </p:cNvSpPr>
          <p:nvPr>
            <p:ph idx="1"/>
          </p:nvPr>
        </p:nvSpPr>
        <p:spPr/>
        <p:txBody>
          <a:bodyPr/>
          <a:lstStyle/>
          <a:p>
            <a:pPr>
              <a:defRPr sz="1800"/>
            </a:pPr>
            <a:r>
              <a:t>ebenfalls zur Unterhaltung.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Kostenrahmen einordnen</a:t>
            </a:r>
          </a:p>
        </p:txBody>
      </p:sp>
      <p:sp>
        <p:nvSpPr>
          <p:cNvPr id="3" name="Content Placeholder 2"/>
          <p:cNvSpPr>
            <a:spLocks noGrp="1"/>
          </p:cNvSpPr>
          <p:nvPr>
            <p:ph idx="1"/>
          </p:nvPr>
        </p:nvSpPr>
        <p:spPr/>
        <p:txBody>
          <a:bodyPr/>
          <a:lstStyle/>
          <a:p>
            <a:pPr>
              <a:defRPr sz="1800"/>
            </a:pPr>
            <a:r>
              <a:t>Die Gesamtkosten einer Holzfassade setzen sich aus Material, Unterkonstruktion, Dämmung und Montage zusammen. Holzmaterialien allein bewegen sich je nach Holzart und Profil in einem überschaubaren Bereich, der erheblich unter dem von Verkleidungen aus Aluminium oder keramischen Elementen liegt. Die Unterkonstruktion aus Metall oder Holz, die Dampfdiffusionsoffenheit gewährleistet, sowie eine eventuelle Dämmebene erhöhen den Aufwand. Für eine realistische Kostenschätzung empfiehlt sich, mehrere Angebote mit identischer Leistungsbeschreibung einzuholen und dabei auf die Holzqualität, die Oberflächenbehandlung und die Ausführung der Anschlüsse 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Kostenrahmen einordnen</a:t>
            </a:r>
          </a:p>
        </p:txBody>
      </p:sp>
      <p:sp>
        <p:nvSpPr>
          <p:cNvPr id="3" name="Content Placeholder 2"/>
          <p:cNvSpPr>
            <a:spLocks noGrp="1"/>
          </p:cNvSpPr>
          <p:nvPr>
            <p:ph idx="1"/>
          </p:nvPr>
        </p:nvSpPr>
        <p:spPr/>
        <p:txBody>
          <a:bodyPr/>
          <a:lstStyle/>
          <a:p>
            <a:pPr>
              <a:defRPr sz="1800"/>
            </a:pPr>
            <a:r>
              <a:t>u achten.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Holzherkunft und CO2-Bilanz: Worauf Bauherren bei Zertifikaten achten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