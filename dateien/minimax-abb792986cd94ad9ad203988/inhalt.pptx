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uenchen.blogspot.com/2026/10/vorfertigung-im-holzbau-was-sich-fur.html" TargetMode="External"/><Relationship Id="rId3" Type="http://schemas.openxmlformats.org/officeDocument/2006/relationships/hyperlink" Target="https://holzundhaus.github.io/1aholzbaumuenchen/dateien/minimax-abb792986cd94ad9ad20398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im Holzbau: Was sich für Bauzeit, Aufmaß und Montage ändert · Erklärende Präsentation</a:t>
            </a:r>
          </a:p>
        </p:txBody>
      </p:sp>
      <p:sp>
        <p:nvSpPr>
          <p:cNvPr id="3" name="Content Placeholder 2"/>
          <p:cNvSpPr>
            <a:spLocks noGrp="1"/>
          </p:cNvSpPr>
          <p:nvPr>
            <p:ph idx="1"/>
          </p:nvPr>
        </p:nvSpPr>
        <p:spPr/>
        <p:txBody>
          <a:bodyPr/>
          <a:lstStyle/>
          <a:p>
            <a:r>
              <a:t>Überblick: Vorfertigung im Holzbau verändert den Ablauf auf der Baustelle grundlegend: Statt einzelner Arbeitsschritte vor Ort entstehen Wände, Decken und Dachelemente in der Werkstatt und werden fertig auf die Baustelle geliefert. Dieser Wechsel bringt kürzere Aufrichtzeiten, erfordert aber eine sorgfältigere Planung im Vorfeld. Wer die Unterschiede zur klassischen Zimmerarbeit kennt, kann Holzbauprojekte realistischer einschätzen und typische Fallstricke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Vorfertigung den Bauprozess verlagert</a:t>
            </a:r>
          </a:p>
        </p:txBody>
      </p:sp>
      <p:sp>
        <p:nvSpPr>
          <p:cNvPr id="3" name="Content Placeholder 2"/>
          <p:cNvSpPr>
            <a:spLocks noGrp="1"/>
          </p:cNvSpPr>
          <p:nvPr>
            <p:ph idx="1"/>
          </p:nvPr>
        </p:nvSpPr>
        <p:spPr/>
        <p:txBody>
          <a:bodyPr/>
          <a:lstStyle/>
          <a:p>
            <a:pPr>
              <a:defRPr sz="1800"/>
            </a:pPr>
            <a:r>
              <a:t>Bei der Vorfertigung verlagert sich ein großer Teil der handwerklichen Arbeit aus der offenen Baustelle in eine kontrollierte Werkstattumgebung. Dort können Maße präzise eingehalten und Bauteile unter optimalen Bedingungen gefertigt werden. Auf der Baustelle selbst reduziert sich die Tätigkeit auf Heben, Ausrichten und Sichern der vorgefertigten Elemente. Dieser Wechsel funktioniert jedoch nur, wenn Planung, Aufmaß und Grundstücksvorbereitung deutlich früher abgeschlossen sind als bei einer Bauweise, die Stück für Stück vor Ort entsteht. Die Verlagerung bedeutet auch, dass Fehler, die früher auf der Baustelle korrigierbar waren, nun in der 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Vorfertigung den Bauprozess verlagert</a:t>
            </a:r>
          </a:p>
        </p:txBody>
      </p:sp>
      <p:sp>
        <p:nvSpPr>
          <p:cNvPr id="3" name="Content Placeholder 2"/>
          <p:cNvSpPr>
            <a:spLocks noGrp="1"/>
          </p:cNvSpPr>
          <p:nvPr>
            <p:ph idx="1"/>
          </p:nvPr>
        </p:nvSpPr>
        <p:spPr/>
        <p:txBody>
          <a:bodyPr/>
          <a:lstStyle/>
          <a:p>
            <a:pPr>
              <a:defRPr sz="1800"/>
            </a:pPr>
            <a:r>
              <a:t>rkstatt vermieden werden müssen – jedes Bauteil wird für seinen bestimmten Platz produziert.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Aufmaß und Maßtoleranzen im Holzbau</a:t>
            </a:r>
          </a:p>
        </p:txBody>
      </p:sp>
      <p:sp>
        <p:nvSpPr>
          <p:cNvPr id="3" name="Content Placeholder 2"/>
          <p:cNvSpPr>
            <a:spLocks noGrp="1"/>
          </p:cNvSpPr>
          <p:nvPr>
            <p:ph idx="1"/>
          </p:nvPr>
        </p:nvSpPr>
        <p:spPr/>
        <p:txBody>
          <a:bodyPr/>
          <a:lstStyle/>
          <a:p>
            <a:pPr>
              <a:defRPr sz="1800"/>
            </a:pPr>
            <a:r>
              <a:t>Vorgefertigte Holzelemente werden nach festen Maßen produziert, die nachträglich nur noch begrenzt angepasst werden können. Das Aufmaß muss daher den tatsächlichen Bestand oder die fertige Gründung exakt abbilden – nicht nur den Planungszustand. Anders als bei Massivbauweisen, wo Putz oder Mörtelfugen Toleranzen ausgleichen können, arbeitet Holz maßhaltig und verzeiht keine Abweichungen. Fenstergrößen, Wandhöhen und Anschlussdetails müssen vor Produktionsstart feststehen, denn späte Änderungen betreffen bereits gefertigte Bauteile direkt. Ein korrekt aufgenommenes Aufmaß bildet die Grundlage dafür, dass die Werkstattfertigung ihre Vorteile vo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Aufmaß und Maßtoleranzen im Holzbau</a:t>
            </a:r>
          </a:p>
        </p:txBody>
      </p:sp>
      <p:sp>
        <p:nvSpPr>
          <p:cNvPr id="3" name="Content Placeholder 2"/>
          <p:cNvSpPr>
            <a:spLocks noGrp="1"/>
          </p:cNvSpPr>
          <p:nvPr>
            <p:ph idx="1"/>
          </p:nvPr>
        </p:nvSpPr>
        <p:spPr/>
        <p:txBody>
          <a:bodyPr/>
          <a:lstStyle/>
          <a:p>
            <a:pPr>
              <a:defRPr sz="1800"/>
            </a:pPr>
            <a:r>
              <a:t>ll entfalten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Logistik, Kran und Montagevorbereitung</a:t>
            </a:r>
          </a:p>
        </p:txBody>
      </p:sp>
      <p:sp>
        <p:nvSpPr>
          <p:cNvPr id="3" name="Content Placeholder 2"/>
          <p:cNvSpPr>
            <a:spLocks noGrp="1"/>
          </p:cNvSpPr>
          <p:nvPr>
            <p:ph idx="1"/>
          </p:nvPr>
        </p:nvSpPr>
        <p:spPr/>
        <p:txBody>
          <a:bodyPr/>
          <a:lstStyle/>
          <a:p>
            <a:pPr>
              <a:defRPr sz="1800"/>
            </a:pPr>
            <a:r>
              <a:t>Ein wesentlicher Teil der Planung verschiebt sich bei Vorfertigung auf Transport und Kranlogistik. Vor dem Montagetermin müssen Zufahrtsweg und Kranstandort festgelegt sein: Die Breite und Höhe der Zufahrt müssen Tieflader mit langen Elementen zulassen, und der Kran muss das Gebäude in Reichweite haben. Ebenso muss die Montagereihenfolge geplant sein, damit der Kran sich nicht selbst blockiert. Fehlen diese Voraussetzungen, kann das die Elementgröße und damit den Grad der Vorfertigung begrenzen. In solchen Fällen wird häufig stärker vor Ort nachgearbeitet, als die Werkstattplanung ursprünglich vorsah. Eine frühzeitige Klärung dieser Punkte sp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Logistik, Kran und Montagevorbereitung</a:t>
            </a:r>
          </a:p>
        </p:txBody>
      </p:sp>
      <p:sp>
        <p:nvSpPr>
          <p:cNvPr id="3" name="Content Placeholder 2"/>
          <p:cNvSpPr>
            <a:spLocks noGrp="1"/>
          </p:cNvSpPr>
          <p:nvPr>
            <p:ph idx="1"/>
          </p:nvPr>
        </p:nvSpPr>
        <p:spPr/>
        <p:txBody>
          <a:bodyPr/>
          <a:lstStyle/>
          <a:p>
            <a:pPr>
              <a:defRPr sz="1800"/>
            </a:pPr>
            <a:r>
              <a:t>art später Zeit und Kosten.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Feuchtemanagement und Wetterschutz</a:t>
            </a:r>
          </a:p>
        </p:txBody>
      </p:sp>
      <p:sp>
        <p:nvSpPr>
          <p:cNvPr id="3" name="Content Placeholder 2"/>
          <p:cNvSpPr>
            <a:spLocks noGrp="1"/>
          </p:cNvSpPr>
          <p:nvPr>
            <p:ph idx="1"/>
          </p:nvPr>
        </p:nvSpPr>
        <p:spPr/>
        <p:txBody>
          <a:bodyPr/>
          <a:lstStyle/>
          <a:p>
            <a:pPr>
              <a:defRPr sz="1800"/>
            </a:pPr>
            <a:r>
              <a:t>Holz verträgt kurzfristige Feuchtigkeit während Transport und Montage, reagiert aber empfindlich auf dauerhaft eingeschlossene Feuchte. Vorgefertigte Elemente müssen daher zügig in eine wettergeschlossene Hülle überführt werden. Das Konzept für Dachfläche, Folien und Anschlüsse sollte so ausgelegt sein, dass die Montage rasch folgt und kein Wasser in die Konstruktion gelangt. Auch die kurzfristige Lagerung auf der Baustelle mit geeigneter Abdeckung gehört in dieselbe Ablaufplanung wie der Krantermin. Wird der Wetterschutz vernachlässigt, können Feuchteschäden die Vorteile der Vorfertigung schnell zunichtemachen.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Bauzeit und Abstimmung mit anderen Gewerken</a:t>
            </a:r>
          </a:p>
        </p:txBody>
      </p:sp>
      <p:sp>
        <p:nvSpPr>
          <p:cNvPr id="3" name="Content Placeholder 2"/>
          <p:cNvSpPr>
            <a:spLocks noGrp="1"/>
          </p:cNvSpPr>
          <p:nvPr>
            <p:ph idx="1"/>
          </p:nvPr>
        </p:nvSpPr>
        <p:spPr/>
        <p:txBody>
          <a:bodyPr/>
          <a:lstStyle/>
          <a:p>
            <a:pPr>
              <a:defRPr sz="1800"/>
            </a:pPr>
            <a:r>
              <a:t>Die reine Aufrichtphase auf der Baustelle ist bei Vorfertigung oft deutlich kürzer als bei konventioneller Bauweise – Wände und Decken stehen in Stunden oder wenigen Tagen. Dieser Vorteil wird jedoch durch eine längere Vorlaufphase erkauft: Planung, Aufmaß und Freigaben müssen vor Produktionsstart abgeschlossen sein, und Werkstattkapazitäten werden frühzeitig gebunden. Für die realistische Bauzeitenplanung zählt der gesamte Zeitstrahl vom Planungsbeginn bis zur bezugsfertigen Hülle, nicht nur der Tag des Aufrichtens. Nachfolgegewerke wie Dachdeckung, Fenster und Haustechnik müssen sich am Montagefenster orientieren. Fenstergrößen, Techniktras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Bauzeit und Abstimmung mit anderen Gewerken</a:t>
            </a:r>
          </a:p>
        </p:txBody>
      </p:sp>
      <p:sp>
        <p:nvSpPr>
          <p:cNvPr id="3" name="Content Placeholder 2"/>
          <p:cNvSpPr>
            <a:spLocks noGrp="1"/>
          </p:cNvSpPr>
          <p:nvPr>
            <p:ph idx="1"/>
          </p:nvPr>
        </p:nvSpPr>
        <p:spPr/>
        <p:txBody>
          <a:bodyPr/>
          <a:lstStyle/>
          <a:p>
            <a:pPr>
              <a:defRPr sz="1800"/>
            </a:pPr>
            <a:r>
              <a:t>sen und Höhenlage der Gründung sollten früh festgelegt und abgestimmt sein, damit Nacharbeiten und Terminkonflikte vermieden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Worauf Bauherren vor Auftragserteilung achten sollten</a:t>
            </a:r>
          </a:p>
        </p:txBody>
      </p:sp>
      <p:sp>
        <p:nvSpPr>
          <p:cNvPr id="3" name="Content Placeholder 2"/>
          <p:cNvSpPr>
            <a:spLocks noGrp="1"/>
          </p:cNvSpPr>
          <p:nvPr>
            <p:ph idx="1"/>
          </p:nvPr>
        </p:nvSpPr>
        <p:spPr/>
        <p:txBody>
          <a:bodyPr/>
          <a:lstStyle/>
          <a:p>
            <a:pPr>
              <a:defRPr sz="1800"/>
            </a:pPr>
            <a:r>
              <a:t>Bevor ein Vorfertigungsauftrag vergeben wird, lohnt sich ein Blick auf die Punkte, die später schwer zu ändern sind. Die Leistungsbeschreibung sollte Planung, Aufmaß, Transport, Kran, Gerüst, Wetterschutz und Nachfolgegewerke eindeutig zuordnen. Der Terminrahmen muss Produktionsbeginn, Lieferung und Montage festlegen und klären, was bei Verzögerungen auf der Baustelle passiert. Für nachträgliche Änderungen sollten Fristen und Kostenfolgen definiert sein. Bauphysikalische Aspekte wie Fenster, Sonnenschutz und Haustechnikanschlüsse müssen vor der Fertigungsfreigabe fixiert sein. Auch die Grundstückslogistik mit Zufahrt, Kranstandort und Lagerfl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Worauf Bauherren vor Auftragserteilung achten sollten</a:t>
            </a:r>
          </a:p>
        </p:txBody>
      </p:sp>
      <p:sp>
        <p:nvSpPr>
          <p:cNvPr id="3" name="Content Placeholder 2"/>
          <p:cNvSpPr>
            <a:spLocks noGrp="1"/>
          </p:cNvSpPr>
          <p:nvPr>
            <p:ph idx="1"/>
          </p:nvPr>
        </p:nvSpPr>
        <p:spPr/>
        <p:txBody>
          <a:bodyPr/>
          <a:lstStyle/>
          <a:p>
            <a:pPr>
              <a:defRPr sz="1800"/>
            </a:pPr>
            <a:r>
              <a:t>äche sollte vorab geprüft werden. Wer diese Punkte vor Auftrag klärt, schafft die Voraussetzung dafür, dass die kürzere Aufrichtzeit nicht durch Reibung an Schnittstellen wieder verloren geht.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Vorfertigung im Holzbau: Was sich für Bauzeit, Aufmaß und Montage ändert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